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OddsWatch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C8E6"/>
                </a:solidFill>
              </a:defRPr>
            </a:pPr>
            <a:r>
              <a:t>Real-Time Sports Betting Odds &amp; Line-Movement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657600"/>
            <a:ext cx="3657600" cy="25400"/>
          </a:xfrm>
          <a:prstGeom prst="rect">
            <a:avLst/>
          </a:prstGeom>
          <a:solidFill>
            <a:srgbClr val="E6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4D2"/>
                </a:solidFill>
              </a:defRPr>
            </a:pPr>
            <a:r>
              <a:t>MGMT 59000  |  Cloud Data Engineering  |  Final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4D2"/>
                </a:solidFill>
              </a:defRPr>
            </a:pPr>
            <a:r>
              <a:t>Danny Affleck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1.  Project Overview &amp; Problem Statement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2.  Architecture &amp; Pattern Justification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3.  Data Model &amp; Star Schema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4.  SCD Strategy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5.  AWS vs. GCP Tool Selection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6.  Partial Deployment: dbt on Athena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7.  Cloud Cost Estimate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8.  Scale Analysis: What Breaks at 10x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9.  Trade-Off Analysis: Dominant Dimension</a:t>
            </a:r>
          </a:p>
          <a:p>
            <a:pPr>
              <a:spcAft>
                <a:spcPts val="600"/>
              </a:spcAft>
              <a:defRPr sz="1800">
                <a:solidFill>
                  <a:srgbClr val="282828"/>
                </a:solidFill>
              </a:defRPr>
            </a:pPr>
            <a:r>
              <a:t>10. Live Demo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93C78"/>
                </a:solidFill>
              </a:defRPr>
            </a:pPr>
            <a:r>
              <a:t>What is OddsWatch?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82828"/>
                </a:solidFill>
              </a:defRPr>
            </a:pPr>
            <a:r>
              <a:t>A cloud-native analytics platform that ingests sports data from multiple public sources, normalizes it into a unified schema, generates synthetic betting odds, and serves it as a star schema optimized for analytical queries via AWS Athena.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FiveThirtyEight MLB ELO (~230K games)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FIFA World Cup Results (~1K matches)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Key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Batch pipeline: ingest, transform, serve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Medallion architecture (Bronze/Silver/Gold)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Star schema with 4 dims + 1 fact table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Synthetic odds: spread, total, moneyline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Glue Catalog + Athena SQL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Architecture: Medallion Lakehouse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79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234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</a:defRPr>
            </a:pPr>
            <a:r>
              <a:t>SERVING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1463040" cy="594360"/>
          </a:xfrm>
          <a:prstGeom prst="roundRect">
            <a:avLst/>
          </a:prstGeom>
          <a:solidFill>
            <a:srgbClr val="E68C32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FiveThirtyEight</a:t>
            </a:r>
            <a:br/>
            <a:r>
              <a:t>MLB 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737360"/>
            <a:ext cx="1463040" cy="594360"/>
          </a:xfrm>
          <a:prstGeom prst="roundRect">
            <a:avLst/>
          </a:prstGeom>
          <a:solidFill>
            <a:srgbClr val="E68C32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GitHub</a:t>
            </a:r>
            <a:br/>
            <a:r>
              <a:t>FIFA World Cup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1847088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77639" y="1737360"/>
            <a:ext cx="3200400" cy="594360"/>
          </a:xfrm>
          <a:prstGeom prst="roundRect">
            <a:avLst/>
          </a:prstGeom>
          <a:solidFill>
            <a:srgbClr val="FFDCC8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Ingest (httpx)</a:t>
            </a:r>
            <a:br/>
            <a:r>
              <a:t>Download + Upload to S3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69480" y="1847088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26679" y="1737360"/>
            <a:ext cx="2286000" cy="594360"/>
          </a:xfrm>
          <a:prstGeom prst="roundRect">
            <a:avLst/>
          </a:prstGeom>
          <a:solidFill>
            <a:srgbClr val="CDAA7D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S3: bronze/</a:t>
            </a:r>
            <a:br/>
            <a:r>
              <a:t>CSV (raw)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1737360"/>
            <a:ext cx="1371600" cy="594360"/>
          </a:xfrm>
          <a:prstGeom prst="roundRect">
            <a:avLst/>
          </a:prstGeom>
          <a:solidFill>
            <a:srgbClr val="CDAA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BRONZE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486400" y="2377440"/>
            <a:ext cx="274320" cy="3657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77639" y="2880360"/>
            <a:ext cx="3200400" cy="822960"/>
          </a:xfrm>
          <a:prstGeom prst="roundRect">
            <a:avLst/>
          </a:prstGeom>
          <a:solidFill>
            <a:srgbClr val="C8D2F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bronze_to_silver Transform</a:t>
            </a:r>
            <a:br/>
            <a:r>
              <a:t>Normalize schemas + Generate</a:t>
            </a:r>
            <a:br/>
            <a:r>
              <a:t>synthetic odds (seeded)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69480" y="3108960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26679" y="2880360"/>
            <a:ext cx="2286000" cy="822960"/>
          </a:xfrm>
          <a:prstGeom prst="roundRect">
            <a:avLst/>
          </a:prstGeom>
          <a:solidFill>
            <a:srgbClr val="B4BED2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S3: silver/</a:t>
            </a:r>
            <a:br/>
            <a:r>
              <a:t>Parquet (unified</a:t>
            </a:r>
            <a:br/>
            <a:r>
              <a:t>SilverGame schema)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2990088"/>
            <a:ext cx="1371600" cy="594360"/>
          </a:xfrm>
          <a:prstGeom prst="roundRect">
            <a:avLst/>
          </a:prstGeom>
          <a:solidFill>
            <a:srgbClr val="B4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SILVER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486400" y="3749039"/>
            <a:ext cx="274320" cy="3657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77639" y="4251960"/>
            <a:ext cx="3200400" cy="822960"/>
          </a:xfrm>
          <a:prstGeom prst="roundRect">
            <a:avLst/>
          </a:prstGeom>
          <a:solidFill>
            <a:srgbClr val="C8D2F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silver_to_gold Transform</a:t>
            </a:r>
            <a:br/>
            <a:r>
              <a:t>Build star schema:</a:t>
            </a:r>
            <a:br/>
            <a:r>
              <a:t>4 dims + 1 fact table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69480" y="4480560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4251960"/>
            <a:ext cx="2286000" cy="822960"/>
          </a:xfrm>
          <a:prstGeom prst="roundRect">
            <a:avLst/>
          </a:prstGeom>
          <a:solidFill>
            <a:srgbClr val="DCBE5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S3: gold/</a:t>
            </a:r>
            <a:br/>
            <a:r>
              <a:t>Parquet (star schema</a:t>
            </a:r>
            <a:br/>
            <a:r>
              <a:t>5 tables)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20" y="4361688"/>
            <a:ext cx="1371600" cy="594360"/>
          </a:xfrm>
          <a:prstGeom prst="roundRect">
            <a:avLst/>
          </a:prstGeom>
          <a:solidFill>
            <a:srgbClr val="DCB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282828"/>
                </a:solidFill>
              </a:defRPr>
            </a:pPr>
            <a:r>
              <a:t>GOLD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8732520" y="5120640"/>
            <a:ext cx="274320" cy="365760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26679" y="5623560"/>
            <a:ext cx="2286000" cy="594360"/>
          </a:xfrm>
          <a:prstGeom prst="roundRect">
            <a:avLst/>
          </a:prstGeom>
          <a:solidFill>
            <a:srgbClr val="D2BEE6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AWS Glue</a:t>
            </a:r>
            <a:br/>
            <a:r>
              <a:t>Data Catalog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104120" y="5733288"/>
            <a:ext cx="36576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61320" y="5623560"/>
            <a:ext cx="1280160" cy="594360"/>
          </a:xfrm>
          <a:prstGeom prst="roundRect">
            <a:avLst/>
          </a:prstGeom>
          <a:solidFill>
            <a:srgbClr val="D2BEE6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Athena</a:t>
            </a:r>
            <a:br/>
            <a:r>
              <a:t>SQL Queries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251960"/>
            <a:ext cx="1463040" cy="822960"/>
          </a:xfrm>
          <a:prstGeom prst="roundRect">
            <a:avLst/>
          </a:prstGeom>
          <a:solidFill>
            <a:srgbClr val="3CA064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dbt Project</a:t>
            </a:r>
            <a:br/>
            <a:r>
              <a:t>7 models</a:t>
            </a:r>
            <a:br/>
            <a:r>
              <a:t>45 tests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920240" y="4480560"/>
            <a:ext cx="457200" cy="32004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4389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reads from</a:t>
            </a:r>
            <a:br/>
            <a:r>
              <a:t>Glue Catalog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623560"/>
            <a:ext cx="3017520" cy="594360"/>
          </a:xfrm>
          <a:prstGeom prst="roundRect">
            <a:avLst/>
          </a:prstGeom>
          <a:solidFill>
            <a:srgbClr val="F0F0DC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282828"/>
                </a:solidFill>
              </a:defRPr>
            </a:pPr>
            <a:r>
              <a:t>Pipeline Orchestrator (pipeline.py)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6355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3C78"/>
                </a:solidFill>
              </a:defRPr>
            </a:pPr>
            <a:r>
              <a:t>Pattern: Medallion Lakehouse  |  Format: CSV (bronze) / Parquet (silver, gold)  |  Catalog: AWS Glue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Why Lakehouse Over Alternatives?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34747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Lambda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Separate batch + speed layers.</a:t>
            </a:r>
            <a:br/>
            <a:r>
              <a:t>Maintain two codepaths.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3C3C"/>
                </a:solidFill>
              </a:defRPr>
            </a:pPr>
            <a:r>
              <a:t>Rejected: batch-only today.</a:t>
            </a:r>
            <a:br/>
            <a:r>
              <a:t>No benefit until streaming added.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4747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CA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Medallion Lakehouse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Single S3 lake with progressive</a:t>
            </a:r>
            <a:br/>
            <a:r>
              <a:t>refinement (Bronze/Silver/Gold).</a:t>
            </a:r>
            <a:br/>
            <a:r>
              <a:t>Glue Catalog for schema.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Chosen: simple, extensible,</a:t>
            </a:r>
            <a:br/>
            <a:r>
              <a:t>low cost, single source of truth.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474720" cy="41148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Data 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Domain-owned data products.</a:t>
            </a:r>
            <a:br/>
            <a:r>
              <a:t>Federated governance.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B43C3C"/>
                </a:solidFill>
              </a:defRPr>
            </a:pPr>
            <a:r>
              <a:t>Rejected: premature for</a:t>
            </a:r>
            <a:br/>
            <a:r>
              <a:t>a 2-source, single-team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Gold Layer: Star Schema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0" y="2194560"/>
            <a:ext cx="4572000" cy="3474720"/>
          </a:xfrm>
          <a:prstGeom prst="roundRect">
            <a:avLst/>
          </a:prstGeom>
          <a:solidFill>
            <a:srgbClr val="FFF3D7"/>
          </a:solidFill>
          <a:ln w="31750">
            <a:solidFill>
              <a:srgbClr val="E6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37160" lIns="182880"/>
          <a:lstStyle/>
          <a:p>
            <a:pPr algn="ctr">
              <a:defRPr sz="1800" b="1">
                <a:solidFill>
                  <a:srgbClr val="E68C32"/>
                </a:solidFill>
              </a:defRPr>
            </a:pPr>
            <a:r>
              <a:t>FactGameOdds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game_key  (FK)</a:t>
            </a: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date_key  (FK)</a:t>
            </a: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home_team_key  (FK)</a:t>
            </a:r>
          </a:p>
          <a:p>
            <a:pPr>
              <a:spcBef>
                <a:spcPts val="100"/>
              </a:spcBef>
              <a:defRPr sz="1100" b="1">
                <a:solidFill>
                  <a:srgbClr val="4682C8"/>
                </a:solidFill>
              </a:defRPr>
            </a:pPr>
            <a:r>
              <a:t>away_team_key  (FK)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sport  |  closing_spread  |  closing_total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moneyline_home  |  moneyline_away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home_score  |  away_score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cover (bool)  |  over_under_result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926080" cy="146304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DimTeam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team_key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team_id  |  team_name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sport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46120" y="196596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06840" y="1371600"/>
            <a:ext cx="2926080" cy="164592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DimDate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date_key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date  |  day_of_week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month  |  year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is_weekend</a:t>
            </a:r>
          </a:p>
        </p:txBody>
      </p:sp>
      <p:sp>
        <p:nvSpPr>
          <p:cNvPr id="7" name="Right Arrow 6"/>
          <p:cNvSpPr/>
          <p:nvPr/>
        </p:nvSpPr>
        <p:spPr>
          <a:xfrm rot="10800000">
            <a:off x="8458200" y="205740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4114800"/>
            <a:ext cx="2926080" cy="164592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DimGame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game_key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game_id  |  sport  |  season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date  |  stage  |  venue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home_team_key  |  away_team_key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46120" y="480060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06840" y="4389120"/>
            <a:ext cx="2926080" cy="1188720"/>
          </a:xfrm>
          <a:prstGeom prst="roundRect">
            <a:avLst/>
          </a:prstGeom>
          <a:solidFill>
            <a:srgbClr val="DCE8FA"/>
          </a:solidFill>
          <a:ln w="2540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lIns="137160"/>
          <a:lstStyle/>
          <a:p>
            <a:pPr algn="ctr">
              <a:defRPr sz="1400" b="1">
                <a:solidFill>
                  <a:srgbClr val="193C78"/>
                </a:solidFill>
              </a:defRPr>
            </a:pPr>
            <a:r>
              <a:t>DimMarket (static)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market_key (PK)</a:t>
            </a:r>
          </a:p>
          <a:p>
            <a:pPr>
              <a:spcBef>
                <a:spcPts val="100"/>
              </a:spcBef>
              <a:defRPr sz="1000">
                <a:solidFill>
                  <a:srgbClr val="282828"/>
                </a:solidFill>
              </a:defRPr>
            </a:pPr>
            <a:r>
              <a:t>spread  |  total  |  moneyline</a:t>
            </a:r>
          </a:p>
        </p:txBody>
      </p:sp>
      <p:sp>
        <p:nvSpPr>
          <p:cNvPr id="11" name="Right Arrow 10"/>
          <p:cNvSpPr/>
          <p:nvPr/>
        </p:nvSpPr>
        <p:spPr>
          <a:xfrm rot="10800000">
            <a:off x="8458200" y="4846320"/>
            <a:ext cx="502920" cy="27432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93C78"/>
                </a:solidFill>
              </a:defRPr>
            </a:pPr>
            <a:r>
              <a:t>Star schema: 4 dimension tables surround 1 central fact table  |  13 columns in fact  |  Derived metrics: cover (bool), over_under_result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Rectangle 22"/>
          <p:cNvSpPr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023359"/>
            <a:ext cx="1069848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83279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1069848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SCD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Rationale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1 (Overwrite)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48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Team names rarely change; no need to track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0 (Fixed)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88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Game facts are immutable once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89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4289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0 (Fixed)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2899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Calendar attributes are deterministic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690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0 (Fixed)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06907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Static 3-row reference 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DimBook*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682C8"/>
                </a:solidFill>
              </a:defRPr>
            </a:pPr>
            <a:r>
              <a:t>Type 2 (History)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09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Sportsbook fees change; valid_from/valid_to/is_current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* DimBook defined in model for future streaming layer; not populated in batch pipeline.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Rectangle 30"/>
          <p:cNvSpPr/>
          <p:nvPr/>
        </p:nvSpPr>
        <p:spPr>
          <a:xfrm>
            <a:off x="548640" y="5394959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6320"/>
            <a:ext cx="9144000" cy="50292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97679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49039"/>
            <a:ext cx="9144000" cy="50292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9144000" cy="50292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9144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914400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AWS vs. GCP Tool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AWS (Chosen)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GCP Equivalent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Object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Amazon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Cloud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Data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AWS Glue Catalog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697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Data Catalog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ETL / Transform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AWS Glue 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Dataflow / Dataproc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SQL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Amazon Athena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79475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BigQuery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Orchestration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Step Functions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34339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Cloud Composer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Compute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AWS Lambda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92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Cloud Functions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2828"/>
                </a:solidFill>
              </a:defRPr>
            </a:pPr>
            <a:r>
              <a:t>Streaming*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682C8"/>
                </a:solidFill>
              </a:defRPr>
            </a:pPr>
            <a:r>
              <a:t>Kinesis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Pub/Sub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93C78"/>
                </a:solidFill>
              </a:defRPr>
            </a:pPr>
            <a:r>
              <a:t>Why AWS:  S3 + Glue + Athena is tightly integrated, serverless, and aligns with course curriculum. boto3 provides mature Python SDK support.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Partial Deployment: dbt on Athena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78"/>
                </a:solidFill>
              </a:defRPr>
            </a:pPr>
            <a:r>
              <a:t>dbt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2 staging models (views) read from Glue Catalog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stg_mlb_games, stg_world_cup_games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5 gold models (materialized as Parquet tables)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dim_team, dim_game, dim_date, dim_market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fact_game_odds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45 data quality tests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not_null, unique on surrogate keys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FK relationships between fact and dims</a:t>
            </a:r>
          </a:p>
          <a:p>
            <a:pPr>
              <a:spcAft>
                <a:spcPts val="600"/>
              </a:spcAft>
              <a:defRPr sz="1400">
                <a:solidFill>
                  <a:srgbClr val="282828"/>
                </a:solidFill>
              </a:defRPr>
            </a:pPr>
            <a:r>
              <a:t>  - accepted_values on sport, market_type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3C78"/>
                </a:solidFill>
              </a:defRPr>
            </a:pPr>
            <a:r>
              <a:t>Demo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029200" cy="548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dbt run --profiles-dir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Materializes 7 models in Athena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383279"/>
            <a:ext cx="5029200" cy="548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dbt test --profiles-dir 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Runs 45 data quality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663440"/>
            <a:ext cx="5029200" cy="54864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SELECT ... FROM fact_game_odds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</a:defRPr>
            </a:pPr>
            <a:r>
              <a:t>Query star schema in Athena console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Rectangle 26"/>
          <p:cNvSpPr/>
          <p:nvPr/>
        </p:nvSpPr>
        <p:spPr>
          <a:xfrm>
            <a:off x="1188720" y="4709160"/>
            <a:ext cx="9144000" cy="4572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420624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88720" y="3703320"/>
            <a:ext cx="9144000" cy="4572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" y="320040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2697480"/>
            <a:ext cx="9144000" cy="45720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219456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508760"/>
            <a:ext cx="914400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Cloud Cost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Monthly 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S3 Storage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219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~20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219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24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S3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24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~1,200/mo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7249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Glue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278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12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227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30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Athena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730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~100 queries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7307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33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Lambda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233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30 invocations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2336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36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Data Transfer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36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~50 MB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736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CA064"/>
                </a:solidFill>
              </a:defRPr>
            </a:pPr>
            <a:r>
              <a:t>$0.00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00400" y="5303520"/>
            <a:ext cx="5486400" cy="731520"/>
          </a:xfrm>
          <a:prstGeom prst="round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Estimated Total:  &lt; $1.00 / month   (Free Tier eligible)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Rectangle 27"/>
          <p:cNvSpPr/>
          <p:nvPr/>
        </p:nvSpPr>
        <p:spPr>
          <a:xfrm>
            <a:off x="274320" y="4754879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4114800"/>
            <a:ext cx="1143000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47472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834639"/>
            <a:ext cx="11430000" cy="548640"/>
          </a:xfrm>
          <a:prstGeom prst="rect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11430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430000" cy="50292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Scale Analysis: What Breaks at 10x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554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Breaks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Symptom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Timeout / 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240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Chunked + async httpx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803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88035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88035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Slow row-by-row 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8803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Vectorize with numpy / PySpark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20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No partition pruning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520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Hive-style partitioning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Catalog/Query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1605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Full scans, slow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Partition pruning + Iceberg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5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2828"/>
                </a:solidFill>
              </a:defRPr>
            </a:pPr>
            <a:r>
              <a:t>Orchestration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80059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3C3C"/>
                </a:solidFill>
              </a:defRPr>
            </a:pPr>
            <a:r>
              <a:t>10x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80059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2828"/>
                </a:solidFill>
              </a:defRPr>
            </a:pPr>
            <a:r>
              <a:t>No retry, full re-run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005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CA064"/>
                </a:solidFill>
              </a:defRPr>
            </a:pPr>
            <a:r>
              <a:t>AWS Step Functions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88952" cy="822960"/>
          </a:xfrm>
          <a:prstGeom prst="rect">
            <a:avLst/>
          </a:prstGeom>
          <a:solidFill>
            <a:srgbClr val="19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Trade-Off Analysis: Dominant Dimension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4682C8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DOMINANT</a:t>
            </a:r>
            <a:br/>
            <a:br/>
            <a:r>
              <a:t>Streaming</a:t>
            </a:r>
            <a:br/>
            <a:br/>
            <a:r>
              <a:t>Odds movement tracking</a:t>
            </a:r>
            <a:br/>
            <a:r>
              <a:t>is the core value prop.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645920"/>
            <a:ext cx="3200400" cy="1828800"/>
          </a:xfrm>
          <a:prstGeom prst="roundRect">
            <a:avLst/>
          </a:prstGeom>
          <a:solidFill>
            <a:srgbClr val="C8505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SACRIFICED</a:t>
            </a:r>
            <a:br/>
            <a:br/>
            <a:r>
              <a:t>Geo-Distribution</a:t>
            </a:r>
            <a:br/>
            <a:br/>
            <a:r>
              <a:t>Single region (us-east-1).</a:t>
            </a:r>
            <a:br/>
            <a:r>
              <a:t>No multi-region needed</a:t>
            </a:r>
            <a:br/>
            <a:r>
              <a:t>for analytics.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645920"/>
            <a:ext cx="3200400" cy="1828800"/>
          </a:xfrm>
          <a:prstGeom prst="roundRect">
            <a:avLst/>
          </a:prstGeom>
          <a:solidFill>
            <a:srgbClr val="C85050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SACRIFICED</a:t>
            </a:r>
            <a:br/>
            <a:br/>
            <a:r>
              <a:t>Fan-Out</a:t>
            </a:r>
            <a:br/>
            <a:br/>
            <a:r>
              <a:t>Single producer, few</a:t>
            </a:r>
            <a:br/>
            <a:r>
              <a:t>consumers. Pull-based</a:t>
            </a:r>
            <a:br/>
            <a:r>
              <a:t>Athena queries.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3C78"/>
                </a:solidFill>
              </a:defRPr>
            </a:pPr>
            <a:r>
              <a:t>Preserved (but not dominant):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2828"/>
                </a:solidFill>
              </a:defRPr>
            </a:pPr>
            <a:r>
              <a:t>CAP: Eventual consistency accepted</a:t>
            </a:r>
            <a:br/>
            <a:br/>
            <a:r>
              <a:t>Gold tables may be briefly stale during</a:t>
            </a:r>
            <a:br/>
            <a:r>
              <a:t>a pipeline run. Analysts query completed snapshots.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572000"/>
            <a:ext cx="50292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82828"/>
                </a:solidFill>
              </a:defRPr>
            </a:pPr>
            <a:r>
              <a:t>Caching: Not required today</a:t>
            </a:r>
            <a:br/>
            <a:br/>
            <a:r>
              <a:t>Athena scans are fast and cheap at current</a:t>
            </a:r>
            <a:br/>
            <a:r>
              <a:t>volume. Redis layer is a natural future addition.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C8E6"/>
                </a:solidFill>
              </a:defRPr>
            </a:pPr>
            <a:r>
              <a:t>1. Run the batch pipeline (ingest + transform + upload)</a:t>
            </a:r>
            <a:br/>
            <a:r>
              <a:t>2. dbt run  -  materialize star schema in Athena</a:t>
            </a:r>
            <a:br/>
            <a:r>
              <a:t>3. dbt test  -  validate 45 data quality checks</a:t>
            </a:r>
            <a:br/>
            <a:r>
              <a:t>4. Query fact_game_odds in the Athena console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B4D2"/>
                </a:solidFill>
              </a:defRPr>
            </a:pPr>
            <a:r>
              <a:t>github.com/daffleck7/oddswatch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